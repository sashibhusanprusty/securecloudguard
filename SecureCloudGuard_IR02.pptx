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4576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0915" y="89588"/>
            <a:ext cx="4754880" cy="4754880"/>
          </a:xfrm>
          <a:prstGeom prst="ellipse">
            <a:avLst/>
          </a:prstGeom>
          <a:solidFill>
            <a:srgbClr val="17233A"/>
          </a:solidFill>
          <a:ln/>
        </p:spPr>
      </p:sp>
      <p:sp>
        <p:nvSpPr>
          <p:cNvPr id="3" name="Shape 1"/>
          <p:cNvSpPr/>
          <p:nvPr/>
        </p:nvSpPr>
        <p:spPr>
          <a:xfrm>
            <a:off x="8556778" y="221655"/>
            <a:ext cx="2743200" cy="2743200"/>
          </a:xfrm>
          <a:prstGeom prst="ellipse">
            <a:avLst/>
          </a:prstGeom>
          <a:ln w="19050">
            <a:solidFill>
              <a:srgbClr val="10B981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-837235" y="-778803"/>
            <a:ext cx="3291840" cy="3291840"/>
          </a:xfrm>
          <a:prstGeom prst="ellipse">
            <a:avLst/>
          </a:prstGeom>
          <a:ln w="19050">
            <a:solidFill>
              <a:srgbClr val="2A3A5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548640" y="594360"/>
            <a:ext cx="4480560" cy="384048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172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94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REVIEW 02  ·  PROGRESS ~60–65%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SecureCloudGuard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Machine Learning and Cryptographic Framework for Selective Image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and Real-Time DDoS Detection in Cloud-IoT Environments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1E293B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675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 ·  CSE DEPARTMENT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Sashi Bhusan Prusty   —   2301020812</a:t>
            </a:r>
            <a:endParaRPr lang="en-US" sz="1350" dirty="0"/>
          </a:p>
          <a:p>
            <a:pPr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Tasha Pattnaik   —   2301020388</a:t>
            </a:r>
            <a:endParaRPr lang="en-US" sz="1350" dirty="0"/>
          </a:p>
          <a:p>
            <a:pPr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Parbhu Datta Biswal   —   2301020766</a:t>
            </a:r>
            <a:endParaRPr lang="en-US" sz="1350" dirty="0"/>
          </a:p>
          <a:p>
            <a:pPr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▪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Padhi   —   2301020330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35204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E293B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3675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&amp; INSTITUTION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37960" y="402336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Sampa Sahoo</a:t>
            </a:r>
            <a:endParaRPr lang="en-US" sz="1250" b="1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C.V. Raman Global University, Bhubaneswar, Odisha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16792" y="64903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SecureCloudGuard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11535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16</a:t>
            </a:r>
            <a:endParaRPr lang="en-US" sz="900" dirty="0"/>
          </a:p>
        </p:txBody>
      </p:sp>
      <p:pic>
        <p:nvPicPr>
          <p:cNvPr id="17" name="Picture 16" descr="C. V. Raman Global University - Wikipedia">
            <a:extLst>
              <a:ext uri="{FF2B5EF4-FFF2-40B4-BE49-F238E27FC236}">
                <a16:creationId xmlns:a16="http://schemas.microsoft.com/office/drawing/2014/main" id="{D3ECD769-FE6A-5606-B714-9EC664E93B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48459" y="333558"/>
            <a:ext cx="2533650" cy="2505075"/>
          </a:xfrm>
          <a:prstGeom prst="flowChartConnector">
            <a:avLst/>
          </a:prstGeom>
        </p:spPr>
      </p:pic>
      <p:sp>
        <p:nvSpPr>
          <p:cNvPr id="19" name="Shape 2">
            <a:extLst>
              <a:ext uri="{FF2B5EF4-FFF2-40B4-BE49-F238E27FC236}">
                <a16:creationId xmlns:a16="http://schemas.microsoft.com/office/drawing/2014/main" id="{132A91C0-6A97-67E9-4845-FEF17A87BB23}"/>
              </a:ext>
            </a:extLst>
          </p:cNvPr>
          <p:cNvSpPr/>
          <p:nvPr/>
        </p:nvSpPr>
        <p:spPr>
          <a:xfrm>
            <a:off x="10269830" y="4844468"/>
            <a:ext cx="3291840" cy="3291840"/>
          </a:xfrm>
          <a:prstGeom prst="ellipse">
            <a:avLst/>
          </a:prstGeom>
          <a:ln w="19050">
            <a:solidFill>
              <a:srgbClr val="2A3A5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REVIEW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 CLOUD-IoT THREAT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47088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66544"/>
            <a:ext cx="457200" cy="457200"/>
          </a:xfrm>
          <a:prstGeom prst="ellipse">
            <a:avLst/>
          </a:prstGeom>
          <a:solidFill>
            <a:srgbClr val="2B1420"/>
          </a:solidFill>
          <a:ln w="12700">
            <a:solidFill>
              <a:srgbClr val="2B14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011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Computational Overhead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17320" y="235915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Full-image cryptographic encryption (e.g. standard AES-256) causes prohibitive latency on resource-constrained IoT cloud gateways, slowing down time-sensitive pipelines.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666744"/>
            <a:ext cx="457200" cy="457200"/>
          </a:xfrm>
          <a:prstGeom prst="ellipse">
            <a:avLst/>
          </a:prstGeom>
          <a:solidFill>
            <a:srgbClr val="2B1420"/>
          </a:solidFill>
          <a:ln w="12700">
            <a:solidFill>
              <a:srgbClr val="2B14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611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DDoS Vulnerability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17320" y="395935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Cloud-IoT ingress pipelines are heavily targeted by volumetric DDoS floods, overwhelming storage and backend classification services before legitimate traffic is even processed.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55080" y="1847088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2940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2359152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Cloud-IoT gateways must encrypt sensor and camera imagery without breaking real-time throughput budgets.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successful DDoS flood can silently disable the very intrusion pipeline meant to detect it.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every pixel and every packet with equal, maximal cost is the root inefficiency — a smarter, selective approach is needed on both fronts.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29400" y="4343400"/>
            <a:ext cx="4800600" cy="0"/>
          </a:xfrm>
          <a:prstGeom prst="line">
            <a:avLst/>
          </a:prstGeom>
          <a:noFill/>
          <a:ln w="12700">
            <a:solidFill>
              <a:srgbClr val="2A3A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44805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Benchmark:  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inspired by Pathak et al. (Computers &amp; Security, 2026), scaling its concepts into a demonstrable 4-module prototype.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0E2B22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53492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99.98%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8640" y="58338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Detection Accuracy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51960" y="53492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51–57%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251960" y="58338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Speedup vs Full AES-256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55280" y="53492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75–80%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955280" y="58338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 Completion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SecureCloudGuard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11535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5897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REVIEW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109960" cy="758952"/>
          </a:xfrm>
          <a:prstGeom prst="roundRect">
            <a:avLst>
              <a:gd name="adj" fmla="val 9639"/>
            </a:avLst>
          </a:prstGeom>
          <a:solidFill>
            <a:srgbClr val="1E293B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32204"/>
            <a:ext cx="512064" cy="512064"/>
          </a:xfrm>
          <a:prstGeom prst="ellipse">
            <a:avLst/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322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600200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Architecture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4920" y="1600200"/>
            <a:ext cx="6400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dual-pipeline system that physically separates image cryptographic security from network intrusion detection to remove throughput bottlenecks.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11109960" cy="758952"/>
          </a:xfrm>
          <a:prstGeom prst="roundRect">
            <a:avLst>
              <a:gd name="adj" fmla="val 9639"/>
            </a:avLst>
          </a:prstGeom>
          <a:solidFill>
            <a:srgbClr val="1E293B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528316"/>
            <a:ext cx="512064" cy="512064"/>
          </a:xfrm>
          <a:prstGeom prst="ellipse">
            <a:avLst/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283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496312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Selective Encryption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2496312"/>
            <a:ext cx="6400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encryption latency using ML-guided, bit-plane-selective AES-256 — without sacrificing visual security — versus full-image encryption.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00984"/>
            <a:ext cx="11109960" cy="758952"/>
          </a:xfrm>
          <a:prstGeom prst="roundRect">
            <a:avLst>
              <a:gd name="adj" fmla="val 9639"/>
            </a:avLst>
          </a:prstGeom>
          <a:solidFill>
            <a:srgbClr val="1E293B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424428"/>
            <a:ext cx="512064" cy="512064"/>
          </a:xfrm>
          <a:prstGeom prst="ellipse">
            <a:avLst/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244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392424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 Threat Detection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3392424"/>
            <a:ext cx="6400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reliable, real-time DDoS classification on flow-level network features, clearly outperforming naive threshold-based rules.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97096"/>
            <a:ext cx="11109960" cy="758952"/>
          </a:xfrm>
          <a:prstGeom prst="roundRect">
            <a:avLst>
              <a:gd name="adj" fmla="val 9639"/>
            </a:avLst>
          </a:prstGeom>
          <a:solidFill>
            <a:srgbClr val="1E293B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320540"/>
            <a:ext cx="512064" cy="512064"/>
          </a:xfrm>
          <a:prstGeom prst="ellipse">
            <a:avLst/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3205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4288536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Benchmark-Grounded Validation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4288536"/>
            <a:ext cx="6400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measured result against a peer-reviewed base paper (Pathak et al., 2026) for fair, reproducible comparison.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093208"/>
            <a:ext cx="11109960" cy="758952"/>
          </a:xfrm>
          <a:prstGeom prst="roundRect">
            <a:avLst>
              <a:gd name="adj" fmla="val 9639"/>
            </a:avLst>
          </a:prstGeom>
          <a:solidFill>
            <a:srgbClr val="1E293B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216652"/>
            <a:ext cx="512064" cy="512064"/>
          </a:xfrm>
          <a:prstGeom prst="ellipse">
            <a:avLst/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2166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00200" y="5184648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Unified, Extensible Dashboard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74920" y="5184648"/>
            <a:ext cx="6400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both engines into one interactive Streamlit interface, extensible toward differential privacy and Bayesian threat prediction.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SecureCloudGuard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11535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REVIEW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 &amp; Positioning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SecureCloudGuard differs from conventional approaches in each domain: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2B142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APPROACHES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0E2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SECURECLOUDGUARD APPROACH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7860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security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Full-image AES/DES encryption applied uniformly, regardless of each region's actual visual information density.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246888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57860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security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SVM-guided selective bit-plane AES-256 — only high-information planes (4–7) are encrypted, cutting compute ~50%.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3016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generation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key schedules with limited added randomness across encryption runs.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352044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63016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generation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 logistic-map generator derives non-linear, run-specific keys and IVs before AES-256 encryption.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8172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threshold / signature-based rules — brittle against evolving traffic patterns (our own baseline test: 42.45% accuracy).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457200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468172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Random Forest classifier on flow-level statistics, adapting to real traffic morphology — 99.98% accuracy.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715000"/>
            <a:ext cx="11109960" cy="502920"/>
          </a:xfrm>
          <a:prstGeom prst="roundRect">
            <a:avLst>
              <a:gd name="adj" fmla="val 14545"/>
            </a:avLst>
          </a:prstGeom>
          <a:solidFill>
            <a:srgbClr val="12233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benchmarked directly against Pathak et al. (Computers &amp; Security, 2026) rather than compared only to an isolated, self-defined baseline.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SecureCloudGuard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11535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REVIEW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5257800" cy="365760"/>
          </a:xfrm>
          <a:prstGeom prst="roundRect">
            <a:avLst>
              <a:gd name="adj" fmla="val 50000"/>
            </a:avLst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44752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1 · SELECTIVE CRYPTOGRAPHY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09360" y="1444752"/>
            <a:ext cx="5257800" cy="365760"/>
          </a:xfrm>
          <a:prstGeom prst="roundRect">
            <a:avLst>
              <a:gd name="adj" fmla="val 5000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444752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2 · REAL-TIME DDoS ENGINE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257800" cy="512064"/>
          </a:xfrm>
          <a:prstGeom prst="roundRect">
            <a:avLst>
              <a:gd name="adj" fmla="val 14286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066544"/>
            <a:ext cx="310896" cy="310896"/>
          </a:xfrm>
          <a:prstGeom prst="ellipse">
            <a:avLst/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8992" y="196596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Image Ingestion (8-bit array)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177540" y="2478024"/>
            <a:ext cx="0" cy="13716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2615184"/>
            <a:ext cx="5257800" cy="512064"/>
          </a:xfrm>
          <a:prstGeom prst="roundRect">
            <a:avLst>
              <a:gd name="adj" fmla="val 14286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715768"/>
            <a:ext cx="310896" cy="310896"/>
          </a:xfrm>
          <a:prstGeom prst="ellipse">
            <a:avLst/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261518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Bit-Plane Decomposition (Planes 0–7)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3177540" y="3127248"/>
            <a:ext cx="0" cy="13716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3264408"/>
            <a:ext cx="5257800" cy="512064"/>
          </a:xfrm>
          <a:prstGeom prst="roundRect">
            <a:avLst>
              <a:gd name="adj" fmla="val 14286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364992"/>
            <a:ext cx="310896" cy="310896"/>
          </a:xfrm>
          <a:prstGeom prst="ellipse">
            <a:avLst/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326440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Feature Selector (identifies planes 4–7)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3177540" y="3776472"/>
            <a:ext cx="0" cy="13716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3913632"/>
            <a:ext cx="5257800" cy="512064"/>
          </a:xfrm>
          <a:prstGeom prst="roundRect">
            <a:avLst>
              <a:gd name="adj" fmla="val 14286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4014216"/>
            <a:ext cx="310896" cy="310896"/>
          </a:xfrm>
          <a:prstGeom prst="ellipse">
            <a:avLst/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78992" y="391363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 Logistic-Map Key / IV Generator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3177540" y="4425696"/>
            <a:ext cx="0" cy="13716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" y="4562856"/>
            <a:ext cx="5257800" cy="512064"/>
          </a:xfrm>
          <a:prstGeom prst="roundRect">
            <a:avLst>
              <a:gd name="adj" fmla="val 14286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4663440"/>
            <a:ext cx="310896" cy="310896"/>
          </a:xfrm>
          <a:prstGeom prst="ellipse">
            <a:avLst/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8992" y="456285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PyCryptodome AES-256 (selected planes only)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3177540" y="5074920"/>
            <a:ext cx="0" cy="13716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48640" y="5212080"/>
            <a:ext cx="5257800" cy="512064"/>
          </a:xfrm>
          <a:prstGeom prst="roundRect">
            <a:avLst>
              <a:gd name="adj" fmla="val 14286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" y="5312664"/>
            <a:ext cx="310896" cy="310896"/>
          </a:xfrm>
          <a:prstGeom prst="ellipse">
            <a:avLst/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5312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78992" y="521208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Reassembly &amp; Bit-Exact Decryption Check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309360" y="1965960"/>
            <a:ext cx="5257800" cy="512064"/>
          </a:xfrm>
          <a:prstGeom prst="roundRect">
            <a:avLst>
              <a:gd name="adj" fmla="val 14286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19088" y="2066544"/>
            <a:ext cx="310896" cy="310896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19088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39712" y="196596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Ingestion (CICIDS2017)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8938260" y="2478024"/>
            <a:ext cx="0" cy="13716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309360" y="2615184"/>
            <a:ext cx="5257800" cy="512064"/>
          </a:xfrm>
          <a:prstGeom prst="roundRect">
            <a:avLst>
              <a:gd name="adj" fmla="val 14286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19088" y="2715768"/>
            <a:ext cx="310896" cy="310896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19088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39712" y="261518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Cleaning (Inf / NaN dropped)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8938260" y="3127248"/>
            <a:ext cx="0" cy="13716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309360" y="3264408"/>
            <a:ext cx="5257800" cy="512064"/>
          </a:xfrm>
          <a:prstGeom prst="roundRect">
            <a:avLst>
              <a:gd name="adj" fmla="val 14286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19088" y="3364992"/>
            <a:ext cx="310896" cy="310896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19088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839712" y="326440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Stratified Train-Test Split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8938260" y="3776472"/>
            <a:ext cx="0" cy="13716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309360" y="3913632"/>
            <a:ext cx="5257800" cy="512064"/>
          </a:xfrm>
          <a:prstGeom prst="roundRect">
            <a:avLst>
              <a:gd name="adj" fmla="val 14286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19088" y="4014216"/>
            <a:ext cx="310896" cy="310896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19088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839712" y="391363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(100 trees, depth 12)</a:t>
            </a:r>
            <a:endParaRPr lang="en-US" sz="1080" dirty="0"/>
          </a:p>
        </p:txBody>
      </p:sp>
      <p:sp>
        <p:nvSpPr>
          <p:cNvPr id="56" name="Shape 54"/>
          <p:cNvSpPr/>
          <p:nvPr/>
        </p:nvSpPr>
        <p:spPr>
          <a:xfrm>
            <a:off x="8938260" y="4425696"/>
            <a:ext cx="0" cy="13716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309360" y="4562856"/>
            <a:ext cx="5257800" cy="512064"/>
          </a:xfrm>
          <a:prstGeom prst="roundRect">
            <a:avLst>
              <a:gd name="adj" fmla="val 14286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19088" y="4663440"/>
            <a:ext cx="310896" cy="310896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19088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839712" y="456285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 (95th-Percentile Rule)</a:t>
            </a:r>
            <a:endParaRPr lang="en-US" sz="1080" dirty="0"/>
          </a:p>
        </p:txBody>
      </p:sp>
      <p:sp>
        <p:nvSpPr>
          <p:cNvPr id="61" name="Shape 59"/>
          <p:cNvSpPr/>
          <p:nvPr/>
        </p:nvSpPr>
        <p:spPr>
          <a:xfrm>
            <a:off x="8938260" y="5074920"/>
            <a:ext cx="0" cy="13716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6309360" y="5212080"/>
            <a:ext cx="5257800" cy="512064"/>
          </a:xfrm>
          <a:prstGeom prst="roundRect">
            <a:avLst>
              <a:gd name="adj" fmla="val 14286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19088" y="5312664"/>
            <a:ext cx="310896" cy="310896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19088" y="5312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839712" y="521208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Output: BENIGN vs. DDoS</a:t>
            </a:r>
            <a:endParaRPr lang="en-US" sz="1080" dirty="0"/>
          </a:p>
        </p:txBody>
      </p:sp>
      <p:sp>
        <p:nvSpPr>
          <p:cNvPr id="66" name="Shape 64"/>
          <p:cNvSpPr/>
          <p:nvPr/>
        </p:nvSpPr>
        <p:spPr>
          <a:xfrm>
            <a:off x="3177540" y="5724144"/>
            <a:ext cx="0" cy="25603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8938260" y="5724144"/>
            <a:ext cx="0" cy="256032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548640" y="6016752"/>
            <a:ext cx="11018520" cy="566928"/>
          </a:xfrm>
          <a:prstGeom prst="roundRect">
            <a:avLst>
              <a:gd name="adj" fmla="val 12903"/>
            </a:avLst>
          </a:prstGeom>
          <a:solidFill>
            <a:srgbClr val="1B2740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731520" y="6016752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INTERACTIVE DASHBOARD (STREAMLIT)  —  merges real-time DDoS alerts and image encryption / decryption into one Web UI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SecureCloudGuard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0911535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REVIEW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&amp; Key Contributions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Dual-Engine Design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security and intrusion detection run as independent pipelines, eliminating the throughput bottleneck of a single shared workload.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18562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Bit-Plane Selection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SVM learns which bit-planes carry real visual structure, rather than relying on a fixed or manually chosen plane split.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1422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 Key / IV Derivation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8006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logistic-map chaotic generator adds a non-linear, run-specific key source layered underneath standard AES-256.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160520"/>
            <a:ext cx="502920" cy="502920"/>
          </a:xfrm>
          <a:prstGeom prst="ellipse">
            <a:avLst/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69480" y="41422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Literature-Grounded Validation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48006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measured result is checked against a peer-reviewed base paper (Pathak et al., 2026), not just an internally defined baseline.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SecureCloudGuard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11535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REVIEW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Used &amp; Justification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1E293B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01 · DDoS TRAFFIC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Institute for Cybersecurity (UNB); Friday-Afternoon-DDoS.csv split, via Kaggle.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~225,000 labelled network flow rows (BENIGN vs. DDoS) after cleaning.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duration, packet counts, packet-length stats, byte rate, window size (e.g. Init_Win_bytes_forward).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whitespace stripped; Infinity / NaN values dropped; numeric flow metrics retained.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21208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dataset: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benchmark used in the base paper (Pathak et al.), enabling apples-to-apples comparison.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50876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1E293B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173736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02 · LENA BENCHMARK IMAGE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28600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'Lena' test image — a classic 8-bit grayscale image-processing benchmark.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301752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8-bit array (pixel values 0–255); resolutions 320×320 and 512×512 px.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374904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target for bit-plane decomposition, correlation analysis, and speed benchmarks.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448056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data: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set of extra grayscale images used only to train the SVM plane selector.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521208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image: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published literature use Lena, guaranteeing direct comparability of results.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SecureCloudGuard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11535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REVIEW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109960" cy="566928"/>
          </a:xfrm>
          <a:prstGeom prst="roundRect">
            <a:avLst>
              <a:gd name="adj" fmla="val 9677"/>
            </a:avLst>
          </a:prstGeom>
          <a:solidFill>
            <a:srgbClr val="0E2B2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/ PURPOSE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566160" y="155448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/ TOOL USED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60920" y="15544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USED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1110996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214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212140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3.10+, VS Code, pip / venv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7360920" y="21214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and project execution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11109960" cy="566928"/>
          </a:xfrm>
          <a:prstGeom prst="rect">
            <a:avLst/>
          </a:prstGeom>
          <a:solidFill>
            <a:srgbClr val="17233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8833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268833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7360920" y="268833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&amp; cleaning CICIDS2017; pixel matrices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548640" y="3255264"/>
            <a:ext cx="1110996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5526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325526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(cv2), Pillow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7360920" y="325526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image arrays, bit-plane decomposition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548640" y="3822192"/>
            <a:ext cx="11109960" cy="566928"/>
          </a:xfrm>
          <a:prstGeom prst="rect">
            <a:avLst/>
          </a:prstGeom>
          <a:solidFill>
            <a:srgbClr val="17233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2219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382219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PyCryptodome (AES-256)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7360920" y="382219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Encrypting / decrypting selected bit-planes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1110996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3891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43891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(SVC, RandomForest)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7360920" y="43891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selection (SVM) &amp; DDoS detection (RF)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548640" y="4956048"/>
            <a:ext cx="11109960" cy="566928"/>
          </a:xfrm>
          <a:prstGeom prst="rect">
            <a:avLst/>
          </a:prstGeom>
          <a:solidFill>
            <a:srgbClr val="17233A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9560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66160" y="495604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7360920" y="4956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matrices, correlation &amp; speed graphs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548640" y="5522976"/>
            <a:ext cx="1110996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52297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Planned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66160" y="552297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·  pgmpy (Phase IV)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7360920" y="552297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UI  ·  upcoming Bayesian Network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548640" y="1554480"/>
            <a:ext cx="0" cy="4535424"/>
          </a:xfrm>
          <a:prstGeom prst="line">
            <a:avLst/>
          </a:prstGeom>
          <a:noFill/>
          <a:ln w="12700">
            <a:solidFill>
              <a:srgbClr val="2A3A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658600" y="1554480"/>
            <a:ext cx="0" cy="4535424"/>
          </a:xfrm>
          <a:prstGeom prst="line">
            <a:avLst/>
          </a:prstGeom>
          <a:noFill/>
          <a:ln w="12700">
            <a:solidFill>
              <a:srgbClr val="2A3A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SecureCloudGuard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11535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REVIEW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DDoS Detection: Training Setup &amp;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537960" cy="4160520"/>
          </a:xfrm>
          <a:prstGeom prst="roundRect">
            <a:avLst>
              <a:gd name="adj" fmla="val 1758"/>
            </a:avLst>
          </a:prstGeom>
          <a:solidFill>
            <a:srgbClr val="0B1220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media/ddos_per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618488"/>
            <a:ext cx="6263640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06640" y="14813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RESULTS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06640" y="1828800"/>
            <a:ext cx="4251960" cy="825246"/>
          </a:xfrm>
          <a:prstGeom prst="roundRect">
            <a:avLst>
              <a:gd name="adj" fmla="val 886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07808" y="19019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Setup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07808" y="2176272"/>
            <a:ext cx="3886200" cy="450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 — 100 trees, max depth 12, fitted on 80% training split (~180k rows).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7406640" y="2782062"/>
            <a:ext cx="4251960" cy="825246"/>
          </a:xfrm>
          <a:prstGeom prst="roundRect">
            <a:avLst>
              <a:gd name="adj" fmla="val 886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07808" y="285521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07808" y="3129534"/>
            <a:ext cx="3886200" cy="450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strictly on the 20% holdout test set (~45k rows); zero leakage from training data.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7406640" y="3735324"/>
            <a:ext cx="4251960" cy="825246"/>
          </a:xfrm>
          <a:prstGeom prst="roundRect">
            <a:avLst>
              <a:gd name="adj" fmla="val 886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07808" y="38084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Score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07808" y="4082796"/>
            <a:ext cx="3886200" cy="450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99.98% accuracy · 99.99% precision · 99.98% recall (F1 = 0.9998); only 8 misclassifications in ~45,000 flows.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7406640" y="4688586"/>
            <a:ext cx="4251960" cy="825246"/>
          </a:xfrm>
          <a:prstGeom prst="roundRect">
            <a:avLst>
              <a:gd name="adj" fmla="val 886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07808" y="476173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Failure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607808" y="5036058"/>
            <a:ext cx="3886200" cy="450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95th-percentile flow-duration threshold rule scores only 42.45% accuracy — proving simple static rules fail.</a:t>
            </a:r>
            <a:endParaRPr lang="en-US" sz="1030" dirty="0"/>
          </a:p>
        </p:txBody>
      </p:sp>
      <p:sp>
        <p:nvSpPr>
          <p:cNvPr id="19" name="Text 16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SecureCloudGuard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911535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REVIEW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Explainability: Top Driving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537960" cy="4160520"/>
          </a:xfrm>
          <a:prstGeom prst="roundRect">
            <a:avLst>
              <a:gd name="adj" fmla="val 1758"/>
            </a:avLst>
          </a:prstGeom>
          <a:solidFill>
            <a:srgbClr val="0B1220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media/feat_im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618488"/>
            <a:ext cx="6263640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06640" y="14813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INSIGHTS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06640" y="1828800"/>
            <a:ext cx="4251960" cy="825246"/>
          </a:xfrm>
          <a:prstGeom prst="roundRect">
            <a:avLst>
              <a:gd name="adj" fmla="val 886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07808" y="19019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Init_Win_bytes_forward (0.075)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07808" y="2176272"/>
            <a:ext cx="3886200" cy="450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feature. Initial TCP window size in the forward direction strongly distinguishes attack connection setups.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7406640" y="2782062"/>
            <a:ext cx="4251960" cy="825246"/>
          </a:xfrm>
          <a:prstGeom prst="roundRect">
            <a:avLst>
              <a:gd name="adj" fmla="val 886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07808" y="285521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Packet Length Max (0.072)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07808" y="3129534"/>
            <a:ext cx="3886200" cy="450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flooding bursts create distinct maximum packet-size spikes.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7406640" y="3735324"/>
            <a:ext cx="4251960" cy="825246"/>
          </a:xfrm>
          <a:prstGeom prst="roundRect">
            <a:avLst>
              <a:gd name="adj" fmla="val 886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07808" y="38084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Fwd Segment Size (0.069)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07808" y="4082796"/>
            <a:ext cx="3886200" cy="450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bots transmit uniformly sized payloads, unlike variable legitimate traffic.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7406640" y="4688586"/>
            <a:ext cx="4251960" cy="825246"/>
          </a:xfrm>
          <a:prstGeom prst="roundRect">
            <a:avLst>
              <a:gd name="adj" fmla="val 886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07808" y="476173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607808" y="5036058"/>
            <a:ext cx="3886200" cy="450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decisions align with real network-protocol mechanics rather than arbitrary artifacts.</a:t>
            </a:r>
            <a:endParaRPr lang="en-US" sz="1030" dirty="0"/>
          </a:p>
        </p:txBody>
      </p:sp>
      <p:sp>
        <p:nvSpPr>
          <p:cNvPr id="19" name="Text 16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SecureCloudGuard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911535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REVIEW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Selective Encryption: Bit-Plane &amp; SVM Selection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537960" cy="4160520"/>
          </a:xfrm>
          <a:prstGeom prst="roundRect">
            <a:avLst>
              <a:gd name="adj" fmla="val 1758"/>
            </a:avLst>
          </a:prstGeom>
          <a:solidFill>
            <a:srgbClr val="0B1220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media/bitplane_cor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618488"/>
            <a:ext cx="6263640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06640" y="14813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DENSITY &amp; SVM SELECTION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06640" y="1828800"/>
            <a:ext cx="4251960" cy="825246"/>
          </a:xfrm>
          <a:prstGeom prst="roundRect">
            <a:avLst>
              <a:gd name="adj" fmla="val 886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07808" y="19019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Bit-Plane Decomposition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07808" y="2176272"/>
            <a:ext cx="3886200" cy="450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8-bit grayscale image splits into 8 binary planes (Plane 0 LSB → Plane 7 MSB).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7406640" y="2782062"/>
            <a:ext cx="4251960" cy="825246"/>
          </a:xfrm>
          <a:prstGeom prst="roundRect">
            <a:avLst>
              <a:gd name="adj" fmla="val 886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07808" y="285521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Shift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07808" y="3129534"/>
            <a:ext cx="3886200" cy="450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Adjacent-pixel correlation rises smoothly from 0.157 (Plane 0, noise) to 0.907 (Plane 7, structure).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7406640" y="3735324"/>
            <a:ext cx="4251960" cy="825246"/>
          </a:xfrm>
          <a:prstGeom prst="roundRect">
            <a:avLst>
              <a:gd name="adj" fmla="val 886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07808" y="38084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Classifier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07808" y="4082796"/>
            <a:ext cx="3886200" cy="450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per-plane spatial correlation and entropy features to auto-select high-information planes.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7406640" y="4688586"/>
            <a:ext cx="4251960" cy="825246"/>
          </a:xfrm>
          <a:prstGeom prst="roundRect">
            <a:avLst>
              <a:gd name="adj" fmla="val 886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07808" y="476173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Result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607808" y="5036058"/>
            <a:ext cx="3886200" cy="450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selects planes 4–7 (top 50% of data volume), leaving low-density noise planes unencrypted.</a:t>
            </a:r>
            <a:endParaRPr lang="en-US" sz="1030" dirty="0"/>
          </a:p>
        </p:txBody>
      </p:sp>
      <p:sp>
        <p:nvSpPr>
          <p:cNvPr id="19" name="Text 16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SecureCloudGuard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911535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REVIEW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Benchmark: Selective vs. Full AES-256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537960" cy="4160520"/>
          </a:xfrm>
          <a:prstGeom prst="roundRect">
            <a:avLst>
              <a:gd name="adj" fmla="val 1758"/>
            </a:avLst>
          </a:prstGeom>
          <a:solidFill>
            <a:srgbClr val="0B1220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media/enc_speedu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618488"/>
            <a:ext cx="6263640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06640" y="14813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 &amp; FIDELITY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06640" y="1828800"/>
            <a:ext cx="4251960" cy="825246"/>
          </a:xfrm>
          <a:prstGeom prst="roundRect">
            <a:avLst>
              <a:gd name="adj" fmla="val 886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07808" y="19019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320×320 Resolution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07808" y="2176272"/>
            <a:ext cx="3886200" cy="450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AES-256: 1.30 ms vs. 2.68 ms full AES-256 → 51.45% speedup.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7406640" y="2782062"/>
            <a:ext cx="4251960" cy="825246"/>
          </a:xfrm>
          <a:prstGeom prst="roundRect">
            <a:avLst>
              <a:gd name="adj" fmla="val 886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07808" y="285521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512×512 Resolution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07808" y="3129534"/>
            <a:ext cx="3886200" cy="450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AES-256: 3.82 ms vs. 8.96 ms full AES-256 → 57.34% speedup.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7406640" y="3735324"/>
            <a:ext cx="4251960" cy="825246"/>
          </a:xfrm>
          <a:prstGeom prst="roundRect">
            <a:avLst>
              <a:gd name="adj" fmla="val 886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07808" y="38084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Volume Reduction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07808" y="4082796"/>
            <a:ext cx="3886200" cy="450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exactly 50% byte volume (Planes 4–7) while obfuscating 100% of intelligible visual features.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7406640" y="4688586"/>
            <a:ext cx="4251960" cy="825246"/>
          </a:xfrm>
          <a:prstGeom prst="roundRect">
            <a:avLst>
              <a:gd name="adj" fmla="val 886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07808" y="476173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Bit-Exact Decryption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607808" y="5036058"/>
            <a:ext cx="3886200" cy="450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 perfectly reconstructs the original Lena benchmark image with zero loss (100% verified).</a:t>
            </a:r>
            <a:endParaRPr lang="en-US" sz="1030" dirty="0"/>
          </a:p>
        </p:txBody>
      </p:sp>
      <p:sp>
        <p:nvSpPr>
          <p:cNvPr id="19" name="Text 16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SecureCloudGuard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911535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REVIEW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Comparison: Target vs. Measured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109960" cy="603504"/>
          </a:xfrm>
          <a:prstGeom prst="roundRect">
            <a:avLst>
              <a:gd name="adj" fmla="val 9091"/>
            </a:avLst>
          </a:prstGeom>
          <a:solidFill>
            <a:srgbClr val="0E2B22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08760"/>
            <a:ext cx="2532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/ TARGET METRIC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502152" y="1508760"/>
            <a:ext cx="225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(BASE PAPER)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16752" y="1508760"/>
            <a:ext cx="3995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MEASURED RESULT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268712" y="1508760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112264"/>
            <a:ext cx="11109960" cy="60350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112264"/>
            <a:ext cx="2532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DDoS Accuracy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502152" y="2112264"/>
            <a:ext cx="225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~99.9% (Pathak et al.)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016752" y="2112264"/>
            <a:ext cx="3995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99.98% Acc · 99.99% Prec · 99.98% Rec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0241280" y="2249424"/>
            <a:ext cx="1280160" cy="329184"/>
          </a:xfrm>
          <a:prstGeom prst="roundRect">
            <a:avLst>
              <a:gd name="adj" fmla="val 50000"/>
            </a:avLst>
          </a:prstGeom>
          <a:ln w="15875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0" y="224942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Target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715768"/>
            <a:ext cx="11109960" cy="603504"/>
          </a:xfrm>
          <a:prstGeom prst="rect">
            <a:avLst/>
          </a:prstGeom>
          <a:solidFill>
            <a:srgbClr val="17233A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715768"/>
            <a:ext cx="2532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Weak Baseline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3502152" y="2715768"/>
            <a:ext cx="225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low accuracy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016752" y="2715768"/>
            <a:ext cx="3995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42.45% Accuracy, 2.27% Recall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10241280" y="2852928"/>
            <a:ext cx="1280160" cy="329184"/>
          </a:xfrm>
          <a:prstGeom prst="roundRect">
            <a:avLst>
              <a:gd name="adj" fmla="val 50000"/>
            </a:avLst>
          </a:prstGeom>
          <a:ln w="15875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0" y="28529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Confirmed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319272"/>
            <a:ext cx="11109960" cy="60350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319272"/>
            <a:ext cx="2532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Bit-Planes Correlation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3502152" y="3319272"/>
            <a:ext cx="225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4–7 carry ~85–89%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016752" y="3319272"/>
            <a:ext cx="3995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0.157 → 0.907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10241280" y="3456432"/>
            <a:ext cx="1280160" cy="329184"/>
          </a:xfrm>
          <a:prstGeom prst="roundRect">
            <a:avLst>
              <a:gd name="adj" fmla="val 50000"/>
            </a:avLst>
          </a:prstGeom>
          <a:ln w="15875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0" y="34564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922776"/>
            <a:ext cx="11109960" cy="603504"/>
          </a:xfrm>
          <a:prstGeom prst="rect">
            <a:avLst/>
          </a:prstGeom>
          <a:solidFill>
            <a:srgbClr val="17233A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3922776"/>
            <a:ext cx="2532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Encryption Speedup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3502152" y="3922776"/>
            <a:ext cx="225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execution gain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6016752" y="3922776"/>
            <a:ext cx="3995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51.45% (320px) / 57.34% (512px)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10241280" y="4059936"/>
            <a:ext cx="1280160" cy="329184"/>
          </a:xfrm>
          <a:prstGeom prst="roundRect">
            <a:avLst>
              <a:gd name="adj" fmla="val 50000"/>
            </a:avLst>
          </a:prstGeom>
          <a:ln w="15875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0" y="405993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Target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4526280"/>
            <a:ext cx="11109960" cy="60350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" y="4526280"/>
            <a:ext cx="2532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 Correctness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3502152" y="4526280"/>
            <a:ext cx="225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Bit-exact reconstruction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6016752" y="4526280"/>
            <a:ext cx="3995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Bit-exact, verified across test runs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10241280" y="4663440"/>
            <a:ext cx="1280160" cy="329184"/>
          </a:xfrm>
          <a:prstGeom prst="roundRect">
            <a:avLst>
              <a:gd name="adj" fmla="val 50000"/>
            </a:avLst>
          </a:prstGeom>
          <a:ln w="15875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0" y="46634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Verified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5129784"/>
            <a:ext cx="11109960" cy="603504"/>
          </a:xfrm>
          <a:prstGeom prst="rect">
            <a:avLst/>
          </a:prstGeom>
          <a:solidFill>
            <a:srgbClr val="17233A"/>
          </a:solidFill>
          <a:ln/>
        </p:spPr>
      </p:sp>
      <p:sp>
        <p:nvSpPr>
          <p:cNvPr id="40" name="Text 38"/>
          <p:cNvSpPr/>
          <p:nvPr/>
        </p:nvSpPr>
        <p:spPr>
          <a:xfrm>
            <a:off x="713232" y="5129784"/>
            <a:ext cx="2532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IV Advanced Modules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3502152" y="5129784"/>
            <a:ext cx="225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&amp; Bayes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6016752" y="5129784"/>
            <a:ext cx="3995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— scheduled next phase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10241280" y="5266944"/>
            <a:ext cx="1280160" cy="329184"/>
          </a:xfrm>
          <a:prstGeom prst="roundRect">
            <a:avLst>
              <a:gd name="adj" fmla="val 50000"/>
            </a:avLst>
          </a:prstGeom>
          <a:ln w="15875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241280" y="52669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" y="1508760"/>
            <a:ext cx="0" cy="4224528"/>
          </a:xfrm>
          <a:prstGeom prst="line">
            <a:avLst/>
          </a:prstGeom>
          <a:noFill/>
          <a:ln w="12700">
            <a:solidFill>
              <a:srgbClr val="2A3A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658600" y="1508760"/>
            <a:ext cx="0" cy="4224528"/>
          </a:xfrm>
          <a:prstGeom prst="line">
            <a:avLst/>
          </a:prstGeom>
          <a:noFill/>
          <a:ln w="12700">
            <a:solidFill>
              <a:srgbClr val="2A3A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5916168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security-strength metrics (NPCR / UACI / Shannon entropy) are scheduled for Phase IV — see next slide.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SecureCloudGuard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911535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REVIEW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Status &amp; Challenges Faced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309360" cy="4206240"/>
          </a:xfrm>
          <a:prstGeom prst="roundRect">
            <a:avLst>
              <a:gd name="adj" fmla="val 1739"/>
            </a:avLst>
          </a:prstGeom>
          <a:solidFill>
            <a:srgbClr val="0B1220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media/statu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618488"/>
            <a:ext cx="603504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78040" y="14813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 &amp; RESOLVED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178040" y="1828800"/>
            <a:ext cx="4480560" cy="1124712"/>
          </a:xfrm>
          <a:prstGeom prst="roundRect">
            <a:avLst>
              <a:gd name="adj" fmla="val 650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79208" y="19202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CICIDS2017 data artifacts</a:t>
            </a:r>
            <a:endParaRPr lang="en-US" sz="1180" dirty="0"/>
          </a:p>
        </p:txBody>
      </p:sp>
      <p:sp>
        <p:nvSpPr>
          <p:cNvPr id="9" name="Text 6"/>
          <p:cNvSpPr/>
          <p:nvPr/>
        </p:nvSpPr>
        <p:spPr>
          <a:xfrm>
            <a:off x="7379208" y="2231136"/>
            <a:ext cx="4114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CSVs contained stray whitespace and Infinity / NaN rows — resolved with a dedicated header-cleaning step before training.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7178040" y="3099816"/>
            <a:ext cx="4480560" cy="1124712"/>
          </a:xfrm>
          <a:prstGeom prst="roundRect">
            <a:avLst>
              <a:gd name="adj" fmla="val 650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79208" y="31912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vs. adaptive plane choice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7379208" y="3502152"/>
            <a:ext cx="4114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initial fixed top-4-plane rule didn't generalize across images — replaced with an SVM trained on correlation + entropy features.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7178040" y="4370832"/>
            <a:ext cx="4480560" cy="1124712"/>
          </a:xfrm>
          <a:prstGeom prst="roundRect">
            <a:avLst>
              <a:gd name="adj" fmla="val 650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79208" y="44622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integration load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7379208" y="4773168"/>
            <a:ext cx="4114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two independent pipelines into one live UI is still ~70% complete and is the current focus area.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SecureCloudGuard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11535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REVIEW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Validation &amp; Remaining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81328"/>
            <a:ext cx="10561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Validation Plan (Phase IV):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speed gains already measured, NPCR, UACI, and Shannon-entropy tests are scheduled next to statistically confirm resistance to differential and statistical attacks on the selective-encryption output.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— PHASE IV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1109960" cy="768096"/>
          </a:xfrm>
          <a:prstGeom prst="roundRect">
            <a:avLst>
              <a:gd name="adj" fmla="val 952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182112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821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3044952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Module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394960" y="304495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calibrated Gaussian noise N(0, σ²) to aggregated traffic statistics in the Streamlit UI; evaluate the utility-vs-privacy tradeoff.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3867912"/>
            <a:ext cx="11109960" cy="768096"/>
          </a:xfrm>
          <a:prstGeom prst="roundRect">
            <a:avLst>
              <a:gd name="adj" fmla="val 952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078224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7822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3941064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Predictive Network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94960" y="3941064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3–4 node DAG in pgmpy (TrafficRate → AnomalyScore → AttackProb) to forecast emerging threats.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48640" y="4764024"/>
            <a:ext cx="11109960" cy="768096"/>
          </a:xfrm>
          <a:prstGeom prst="roundRect">
            <a:avLst>
              <a:gd name="adj" fmla="val 952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974336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97433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483717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Security Metrics &amp; Cloud Integration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94960" y="4837176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dashboard UI, add NPCR / UACI / entropy metrics, integrate boto3 AWS S3 storage, and deploy to Streamlit Community Cloud.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8640" y="5660136"/>
            <a:ext cx="11109960" cy="768096"/>
          </a:xfrm>
          <a:prstGeom prst="roundRect">
            <a:avLst>
              <a:gd name="adj" fmla="val 9524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87044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0E2B22"/>
          </a:solidFill>
          <a:ln w="12700">
            <a:solidFill>
              <a:srgbClr val="0E2B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87044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573328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 &amp; Replay Demo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394960" y="573328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live attack-replay demo using CICIDS2017 rows for the panel and finalize the project report.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SecureCloudGuard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11535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754880" cy="4754880"/>
          </a:xfrm>
          <a:prstGeom prst="ellipse">
            <a:avLst/>
          </a:prstGeom>
          <a:solidFill>
            <a:srgbClr val="17233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3291840" cy="3291840"/>
          </a:xfrm>
          <a:prstGeom prst="ellipse">
            <a:avLst/>
          </a:prstGeom>
          <a:ln w="19050">
            <a:solidFill>
              <a:srgbClr val="2A3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8580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1723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85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REVIEW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493008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Pathak, A. et al. — "Data Encryption in Cloud and DDoS Attack Detection Using AI / ML." Computers &amp; Security, 2026. (Base paper for benchmark comparison throughout this work.)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17233A"/>
          </a:solidFill>
          <a:ln w="12700">
            <a:solidFill>
              <a:srgbClr val="2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 ·  CSE DEPARTMENT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07492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Sashi Bhusan Prusty (2301020812)  ·  Tasha Pattnaik (2301020388)  ·  Parbhu Datta Biswal (2301020766)  ·  Aditya Padhi (2301020330)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544068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Sampa Sahoo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C.V. Raman Global University, Bhubaneswar, Odisha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SecureCloudGuard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11535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2031</Words>
  <Application>Microsoft Office PowerPoint</Application>
  <PresentationFormat>Widescreen</PresentationFormat>
  <Paragraphs>311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Sashi Bhusan Prusty</cp:lastModifiedBy>
  <cp:revision>2</cp:revision>
  <dcterms:created xsi:type="dcterms:W3CDTF">2026-09-11T20:06:50Z</dcterms:created>
  <dcterms:modified xsi:type="dcterms:W3CDTF">2026-09-11T21:38:38Z</dcterms:modified>
</cp:coreProperties>
</file>